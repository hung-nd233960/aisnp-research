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74552" cy="3200400"/>
          </a:xfrm>
          <a:prstGeom prst="rect">
            <a:avLst/>
          </a:prstGeom>
          <a:solidFill>
            <a:srgbClr val="224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Ancestry-Informative SNP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0D0FF"/>
                </a:solidFill>
              </a:rPr>
              <a:t>A Statistical Approach Beyond FST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0B8E8"/>
                </a:solidFill>
              </a:rPr>
              <a:t>CN  ·  JPT  ·  SEA   —   East Asian Population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4389120"/>
            <a:ext cx="2377440" cy="5943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4074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614,759 SNPs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4389120"/>
            <a:ext cx="2377440" cy="5943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4074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504 Individuals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389120"/>
            <a:ext cx="2377440" cy="5943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44074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 Populations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0D0"/>
                </a:solidFill>
              </a:rPr>
              <a:t>1000 Genomes Project  |  East Asian Super-Population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Does Ancestry Matter?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46888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🔬  Forensics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Ancestry inference from
biological trace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46888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💊  Medicine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Drug metabolism and disease
risk vary by population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246888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🌏  Population
Genetics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Tracing human migration
and evolutionary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280160"/>
            <a:ext cx="246888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🧬 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Understanding genetic
diversity and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11457432" cy="731520"/>
          </a:xfrm>
          <a:prstGeom prst="rect">
            <a:avLst/>
          </a:prstGeom>
          <a:solidFill>
            <a:srgbClr val="E8F4FF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879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A5C"/>
                </a:solidFill>
              </a:rPr>
              <a:t>Goal:  Find the smallest set of SNP positions that reliably identifies a person's ancestral population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1000 Genomes Project — East Asian Super-Population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237744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CHB + CHS
(Han Chinese)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347472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 = 208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280160"/>
            <a:ext cx="3474720" cy="2377440"/>
          </a:xfrm>
          <a:prstGeom prst="rect">
            <a:avLst/>
          </a:prstGeom>
          <a:solidFill>
            <a:srgbClr val="377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71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JPT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JPT
(Japanese)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703320"/>
            <a:ext cx="347472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 = 104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280160"/>
            <a:ext cx="3474720" cy="2377440"/>
          </a:xfrm>
          <a:prstGeom prst="rect">
            <a:avLst/>
          </a:prstGeom>
          <a:solidFill>
            <a:srgbClr val="4DA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371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KHV + CDX
(Kinh + Dai)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703320"/>
            <a:ext cx="347472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 = 192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1274552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07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All groups belong to the same EAS super-population  —  genetically close  →  deliberately hard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Scale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5029200" cy="7315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Whole-genome sequencing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188720"/>
            <a:ext cx="43891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99999"/>
                </a:solidFill>
              </a:rPr>
              <a:t>~78,000,000 raw SNPs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331720"/>
            <a:ext cx="5029200" cy="731520"/>
          </a:xfrm>
          <a:prstGeom prst="rect">
            <a:avLst/>
          </a:prstGeom>
          <a:solidFill>
            <a:srgbClr val="F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Quality filtering (QC)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331720"/>
            <a:ext cx="43891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5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8C00"/>
                </a:solidFill>
              </a:rPr>
              <a:t>614,759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8152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474720"/>
            <a:ext cx="5029200" cy="73152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Smart selection ???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74720"/>
            <a:ext cx="43891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661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A7BD5"/>
                </a:solidFill>
              </a:rPr>
              <a:t>~1,000 informative SNPs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24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617720"/>
            <a:ext cx="502920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70915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ML panel reduction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617720"/>
            <a:ext cx="43891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709159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A33"/>
                </a:solidFill>
              </a:rPr>
              <a:t>50 – 150 final SNPs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875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3031"/>
                </a:solidFill>
              </a:rPr>
              <a:t>⚠   ML cannot handle 600k features directly — a principled pre-selection step is essential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Pipeline — 4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017520" cy="18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D0FF"/>
                </a:solidFill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Pre-filtering
(Quality Control)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30175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</a:rPr>
              <a:t>78M → 614,759 SNPs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280160"/>
            <a:ext cx="3017520" cy="18288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D0FF"/>
                </a:solidFill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SNP Scoring
FST  vs  Statistical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154680"/>
            <a:ext cx="30175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7BD5"/>
                </a:solidFill>
              </a:rPr>
              <a:t>→ ~1,000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280160"/>
            <a:ext cx="3017520" cy="1828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D0FF"/>
                </a:solidFill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 Training
7 classifiers, 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154680"/>
            <a:ext cx="30175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200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F42C1"/>
                </a:solidFill>
              </a:rPr>
              <a:t>accuracy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1280160"/>
            <a:ext cx="3017520" cy="18288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D0FF"/>
                </a:solidFill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 Reduction
Panel size sweep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154680"/>
            <a:ext cx="30175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3200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A33"/>
                </a:solidFill>
              </a:rPr>
              <a:t>50–150 SNP final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931920"/>
            <a:ext cx="3931920" cy="1737360"/>
          </a:xfrm>
          <a:prstGeom prst="rect">
            <a:avLst/>
          </a:prstGeom>
          <a:solidFill>
            <a:srgbClr val="E8F4FF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0233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STAGE 2 splits into
two competing approaches: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553712"/>
            <a:ext cx="178308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5902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FST-based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553712"/>
            <a:ext cx="1828800" cy="50292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5902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Statistical  ← NEW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 — Pre-filtering (Quality Control)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Standard genomics QC — unchanged from classical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28600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SNP-only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280160"/>
            <a:ext cx="8961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53312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Remove insertions, deletions, structural variants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93391"/>
            <a:ext cx="228600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66543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Biallelic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993391"/>
            <a:ext cx="8961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066543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Keep variants with exactly 2 alleles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228600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Min.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706624"/>
            <a:ext cx="8961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779776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MAF ≥ 0.1%  (at least 1 allele across all 504 samples)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19856"/>
            <a:ext cx="228600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Call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419856"/>
            <a:ext cx="8961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493008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≥ 95% of samples must be genotyped at each 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33087"/>
            <a:ext cx="228600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HWE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4133087"/>
            <a:ext cx="8961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4206240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Remove sites likely caused by genotyping error  (p &lt; 10⁻⁶)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228600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1947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LD pruning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4846320"/>
            <a:ext cx="8961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4919472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Remove correlated variants  R² &lt; 0.10, 1000 kb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7424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78,000,000  →  614,759 independent SNPs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2A — FST  (Baseline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Classical population genetics — the reference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13232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FST  =  (Total variance − Within-population variance)  /  Total variance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64592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FST =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286000"/>
            <a:ext cx="54406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350008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Allele frequencies identical across all populations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44368"/>
            <a:ext cx="164592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08375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FST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2944368"/>
            <a:ext cx="54406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3008375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Allele frequencies completely diverged (fixed)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02736"/>
            <a:ext cx="164592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667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Pairwise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3602736"/>
            <a:ext cx="54406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666744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CN↔JPT,  CN↔SEA,  JPT↔SEA  →  aggregated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61104"/>
            <a:ext cx="164592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2511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4261104"/>
            <a:ext cx="54406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325112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Top 1,000 SNPs by FST  →  passed to 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188720"/>
            <a:ext cx="4114800" cy="5394960"/>
          </a:xfrm>
          <a:prstGeom prst="rect">
            <a:avLst/>
          </a:prstGeom>
          <a:solidFill>
            <a:srgbClr val="224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325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FST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920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Normalizes by total
  heterozygosity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9718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Upweights rare alleles
  with large freq.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0233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Interpretable as a
  proportion  [0, 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074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Well-validated in
  population genetics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2B — Statistical Filtering  (New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7 metrics evaluated across all 614,759 SNPs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868680" cy="5120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0700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χ²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143000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2161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Chi-squared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1615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Genotype–population independence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868680" cy="5120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84708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Cramér's 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783080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56231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Effect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5623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Normalised χ²,  bounded [0, 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23160"/>
            <a:ext cx="868680" cy="5120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4871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ANOVA 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423160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24963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Parametric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49631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Mean dosage difference across 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63239"/>
            <a:ext cx="868680" cy="5120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127247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KW 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063239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136391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Non-parametric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13639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Rank-based analog of ANOVA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03320"/>
            <a:ext cx="868680" cy="5120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76732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δAF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3703320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3776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Frequency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77647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Max pairwise allele frequency difference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43400"/>
            <a:ext cx="868680" cy="5120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40740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JSD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4343400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4165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Distributional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41655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Jensen-Shannon Divergence of genotype distributions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983479"/>
            <a:ext cx="868680" cy="5120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504748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4983479"/>
            <a:ext cx="155448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5056631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Info. theory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056631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Mutual information between genotype and population</a:t>
            </a:r>
          </a:p>
        </p:txBody>
      </p:sp>
      <p:pic>
        <p:nvPicPr>
          <p:cNvPr id="43" name="Picture 42" descr="test_cell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97280"/>
            <a:ext cx="5852160" cy="26480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74320" y="568756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7BD5"/>
                </a:solidFill>
              </a:rPr>
              <a:t>★ Selected: χ²  ·  δAF  ·  JSD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Vectorized NumPy — &lt; 15 sec for 600k SNPs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Independent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Most metrics are highly correlated — they measure the same underlying phenomenon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Pearson R across 614,759 SNPs: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30175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ANOVA F  ↔  KW 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749808" cy="475488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1848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45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3031"/>
                </a:solidFill>
              </a:rPr>
              <a:t>Identical — drop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57984"/>
            <a:ext cx="30175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21991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JSD  ↔  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157984"/>
            <a:ext cx="749808" cy="475488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221991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49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3031"/>
                </a:solidFill>
              </a:rPr>
              <a:t>Identical — drop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61488"/>
            <a:ext cx="30175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2549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χ²  ↔  ANOVA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761488"/>
            <a:ext cx="749808" cy="475488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825496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8529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7E00"/>
                </a:solidFill>
              </a:rPr>
              <a:t>χ² subsumes ANOVA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64991"/>
            <a:ext cx="30175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4289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χ²  ↔  JSD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364991"/>
            <a:ext cx="749808" cy="475488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428999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0.96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456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7E00"/>
                </a:solidFill>
              </a:rPr>
              <a:t>High overlap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68496"/>
            <a:ext cx="30175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03250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χ²  ↔  δAF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968496"/>
            <a:ext cx="749808" cy="47548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4032504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0.68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05993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33"/>
                </a:solidFill>
              </a:rPr>
              <a:t>Most independent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572000"/>
            <a:ext cx="30175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360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δAF  ↔  JSD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572000"/>
            <a:ext cx="749808" cy="47548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4636008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0.71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663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33"/>
                </a:solidFill>
              </a:rPr>
              <a:t>Independent from freq. gap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486400"/>
            <a:ext cx="5806440" cy="868680"/>
          </a:xfrm>
          <a:prstGeom prst="rect">
            <a:avLst/>
          </a:prstGeom>
          <a:solidFill>
            <a:srgbClr val="E8F8EE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559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33"/>
                </a:solidFill>
              </a:rPr>
              <a:t>Three independent signals: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5961888"/>
            <a:ext cx="1188720" cy="347472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χ²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60167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categorical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48840" y="5961888"/>
            <a:ext cx="1188720" cy="347472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δAF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60167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freq. gap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5961888"/>
            <a:ext cx="1188720" cy="347472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JSD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60167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distrib.</a:t>
            </a:r>
          </a:p>
        </p:txBody>
      </p:sp>
      <p:pic>
        <p:nvPicPr>
          <p:cNvPr id="47" name="Picture 46" descr="test_cell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601456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Note: δAF  ≠  FST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Similar idea — very different mathematics and SNP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560320" cy="6217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926079" y="1188720"/>
            <a:ext cx="4114800" cy="6217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799" y="12252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δAF  (Max AF Delta)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79" y="1188720"/>
            <a:ext cx="4114800" cy="6217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599" y="12252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FST  (Fixation Index)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10512"/>
            <a:ext cx="256032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4708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Formula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79" y="1810512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799" y="184708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max |AF_i − AF_j|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79" y="1810512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599" y="184708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Var(AF) / (p̄ × (1−p̄))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3230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6888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Normalization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243230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799" y="2468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None — absolute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79" y="243230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599" y="2468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By heterozygosity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54096"/>
            <a:ext cx="256032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9067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Rare alleles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79" y="3054096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799" y="30906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Same weight as common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79" y="3054096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599" y="30906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63031"/>
                </a:solidFill>
              </a:rPr>
              <a:t>Upweighted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7588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712464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Top-500 overlap
with χ²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367588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799" y="371246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14%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79" y="367588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599" y="371246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~30–40%</a:t>
            </a:r>
          </a:p>
        </p:txBody>
      </p:sp>
      <p:pic>
        <p:nvPicPr>
          <p:cNvPr id="38" name="Picture 37" descr="test_cell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86200"/>
            <a:ext cx="11430000" cy="32610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Top-200 chi² SNPs: points far from the diagonal = high differentiation between populations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4 — ML-Based Panel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Starting from ~1,005 SNPs ranked by RF + LR feature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28600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9576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Panel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43000"/>
            <a:ext cx="256032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179576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9" y="1143000"/>
            <a:ext cx="292608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799" y="1179576"/>
            <a:ext cx="28346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1143000"/>
            <a:ext cx="384048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179576"/>
            <a:ext cx="3749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Drop from full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73352"/>
            <a:ext cx="22860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09928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50 SNPs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673352"/>
            <a:ext cx="25603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1709928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63031"/>
                </a:solidFill>
              </a:rPr>
              <a:t>0.944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9" y="1673352"/>
            <a:ext cx="29260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799" y="1709928"/>
            <a:ext cx="28346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SVM (RBF)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9" y="1673352"/>
            <a:ext cx="3840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709928"/>
            <a:ext cx="3749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−4.6%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0370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240280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100 SNPs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20370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2240280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63031"/>
                </a:solidFill>
              </a:rPr>
              <a:t>0.978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9" y="2203704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799" y="2240280"/>
            <a:ext cx="28346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SVM (RBF)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59" y="220370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240280"/>
            <a:ext cx="3749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−1.2%  ← elbow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734056"/>
            <a:ext cx="22860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770632"/>
            <a:ext cx="2194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150 SNPs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734056"/>
            <a:ext cx="25603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2770632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63031"/>
                </a:solidFill>
              </a:rPr>
              <a:t>0.990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9" y="2734056"/>
            <a:ext cx="29260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799" y="2770632"/>
            <a:ext cx="28346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SVM (RBF)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59" y="2734056"/>
            <a:ext cx="3840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2770632"/>
            <a:ext cx="3749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~0%  (saturated)</a:t>
            </a:r>
          </a:p>
        </p:txBody>
      </p:sp>
      <p:pic>
        <p:nvPicPr>
          <p:cNvPr id="40" name="Picture 39" descr="eval_cel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63240"/>
            <a:ext cx="11430000" cy="4710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Fair Comparison at Top-50 SNPs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All approaches evaluated at exactly 50 SNPs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pic>
        <p:nvPicPr>
          <p:cNvPr id="8" name="Picture 7" descr="eval_cel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30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257800"/>
            <a:ext cx="11430000" cy="1051560"/>
          </a:xfrm>
          <a:prstGeom prst="rect">
            <a:avLst/>
          </a:prstGeom>
          <a:solidFill>
            <a:srgbClr val="E8F8EE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30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3"/>
                </a:solidFill>
              </a:rPr>
              <a:t>Statistical V2 matches FST at top-50  |  At 150+ SNPs statistical surpasses FST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V1 → V2 improvement: +6 pp  (new metric set was critical)     • FST + Statistical combination does NOT improve over either alone at top-50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34-SNP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SNPs confirmed by every approach — the highest-confidence markers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011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C107"/>
                </a:solidFill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3258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SNPs appear in the top-50 of  FST-only  ∩  V1 FST+RF  ∩  V2 FST+RF
— independently confirmed by three methodologically distinct pipelines</a:t>
            </a:r>
          </a:p>
        </p:txBody>
      </p:sp>
      <p:pic>
        <p:nvPicPr>
          <p:cNvPr id="11" name="Picture 10" descr="eval_cel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68880"/>
            <a:ext cx="7132320" cy="3232921"/>
          </a:xfrm>
          <a:prstGeom prst="rect">
            <a:avLst/>
          </a:prstGeom>
        </p:spPr>
      </p:pic>
      <p:pic>
        <p:nvPicPr>
          <p:cNvPr id="12" name="Picture 11" descr="eval_cell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468880"/>
            <a:ext cx="4480560" cy="16818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Takeaways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0"/>
                </a:solidFill>
              </a:rPr>
              <a:t>AISNP Selection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02920" cy="6858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280160"/>
            <a:ext cx="1078992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35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Statistics rivals FST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335024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χ², δAF, JSD union matches FST accuracy at 50 SNPs and surpasses it at larger panels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1343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40280"/>
            <a:ext cx="1078992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295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Most metrics redundant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95144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7 tests collapse to 3 independent signals — less computation, no loss of 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502920" cy="6858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7355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200400"/>
            <a:ext cx="1078992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2552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50 SNPs is practical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255264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94% accuracy — a realistic panel for genotyping arrays or targeted sequencing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502920" cy="6858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3367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160520"/>
            <a:ext cx="1078992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Complementary, not substitutes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15384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FST and statistical methods share only 34 SNPs — they probe different genomic signals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114300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Benchmark vs published AISNP panels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715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Validate 34-SNP core on external populations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715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Extend to global populations beyond 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